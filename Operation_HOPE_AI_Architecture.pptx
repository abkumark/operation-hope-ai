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5073"/>
                </a:solidFill>
              </a:defRPr>
            </a:pPr>
            <a:r>
              <a:t>Operation HOPE AI -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AI-Powered Support Ticket System • ~30 tickets/day • 48 hours → minutes response 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645920" cy="457200"/>
          </a:xfrm>
          <a:prstGeom prst="roundRect">
            <a:avLst/>
          </a:prstGeom>
          <a:solidFill>
            <a:srgbClr val="FFA500"/>
          </a:solidFill>
          <a:ln w="25400">
            <a:solidFill>
              <a:srgbClr val="005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Public Users</a:t>
            </a:r>
          </a:p>
          <a:p>
            <a:r>
              <a:t>(Ticket Submitters)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463040"/>
            <a:ext cx="1645920" cy="457200"/>
          </a:xfrm>
          <a:prstGeom prst="roundRect">
            <a:avLst/>
          </a:prstGeom>
          <a:solidFill>
            <a:srgbClr val="1BA0D7"/>
          </a:solidFill>
          <a:ln w="25400">
            <a:solidFill>
              <a:srgbClr val="005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Engineers</a:t>
            </a:r>
          </a:p>
          <a:p>
            <a:r>
              <a:t>(5 Support Staff)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463040"/>
            <a:ext cx="1645920" cy="457200"/>
          </a:xfrm>
          <a:prstGeom prst="roundRect">
            <a:avLst/>
          </a:prstGeom>
          <a:solidFill>
            <a:srgbClr val="005073"/>
          </a:solidFill>
          <a:ln w="25400">
            <a:solidFill>
              <a:srgbClr val="005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Admin</a:t>
            </a:r>
          </a:p>
          <a:p>
            <a:r>
              <a:t>(Analytics &amp; Config)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2468880"/>
            <a:ext cx="4023360" cy="64008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Frontend - Single Page App</a:t>
            </a:r>
          </a:p>
          <a:p>
            <a:r>
              <a:t>HTML/CSS/JS • Chart.js • Vanilla JavaScript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3474720"/>
            <a:ext cx="4023360" cy="640080"/>
          </a:xfrm>
          <a:prstGeom prst="roundRect">
            <a:avLst/>
          </a:prstGeom>
          <a:solidFill>
            <a:srgbClr val="1BA0D7"/>
          </a:solidFill>
          <a:ln w="25400">
            <a:solidFill>
              <a:srgbClr val="005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FastAPI Backend</a:t>
            </a:r>
          </a:p>
          <a:p>
            <a:r>
              <a:t>37 Endpoints • Authentication/RBAC • Route Management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480560"/>
            <a:ext cx="2011680" cy="640080"/>
          </a:xfrm>
          <a:prstGeom prst="roundRect">
            <a:avLst/>
          </a:prstGeom>
          <a:solidFill>
            <a:srgbClr val="FFA500"/>
          </a:solidFill>
          <a:ln w="25400">
            <a:solidFill>
              <a:srgbClr val="005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AI Classification</a:t>
            </a:r>
          </a:p>
          <a:p>
            <a:r>
              <a:t>GPT-5.2 Azure OpenAI</a:t>
            </a:r>
          </a:p>
          <a:p>
            <a:r>
              <a:t>21 Categories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4480560"/>
            <a:ext cx="2011680" cy="640080"/>
          </a:xfrm>
          <a:prstGeom prst="roundRect">
            <a:avLst/>
          </a:prstGeom>
          <a:solidFill>
            <a:srgbClr val="FFA500"/>
          </a:solidFill>
          <a:ln w="25400">
            <a:solidFill>
              <a:srgbClr val="005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Smart Routing</a:t>
            </a:r>
          </a:p>
          <a:p>
            <a:r>
              <a:t>Confidence-Based</a:t>
            </a:r>
          </a:p>
          <a:p>
            <a:r>
              <a:t>Engineer Matching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480560"/>
            <a:ext cx="2011680" cy="640080"/>
          </a:xfrm>
          <a:prstGeom prst="roundRect">
            <a:avLst/>
          </a:prstGeom>
          <a:solidFill>
            <a:srgbClr val="FFA500"/>
          </a:solidFill>
          <a:ln w="25400">
            <a:solidFill>
              <a:srgbClr val="005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RAG Response</a:t>
            </a:r>
          </a:p>
          <a:p>
            <a:r>
              <a:t>Knowledge Base</a:t>
            </a:r>
          </a:p>
          <a:p>
            <a:r>
              <a:t>Auto-Resolution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5486400"/>
            <a:ext cx="2011680" cy="640080"/>
          </a:xfrm>
          <a:prstGeom prst="roundRect">
            <a:avLst/>
          </a:prstGeom>
          <a:solidFill>
            <a:srgbClr val="4CAF50"/>
          </a:solidFill>
          <a:ln w="25400">
            <a:solidFill>
              <a:srgbClr val="005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SQLite Database</a:t>
            </a:r>
          </a:p>
          <a:p>
            <a:r>
              <a:t>Tickets • Analytics</a:t>
            </a:r>
          </a:p>
          <a:p>
            <a:r>
              <a:t>User Management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5486400"/>
            <a:ext cx="2011680" cy="640080"/>
          </a:xfrm>
          <a:prstGeom prst="roundRect">
            <a:avLst/>
          </a:prstGeom>
          <a:solidFill>
            <a:srgbClr val="4CAF50"/>
          </a:solidFill>
          <a:ln w="25400">
            <a:solidFill>
              <a:srgbClr val="005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ChromaDB</a:t>
            </a:r>
          </a:p>
          <a:p>
            <a:r>
              <a:t>Vector Embeddings</a:t>
            </a:r>
          </a:p>
          <a:p>
            <a:r>
              <a:t>24+ KB Articles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3200400"/>
            <a:ext cx="1371600" cy="457200"/>
          </a:xfrm>
          <a:prstGeom prst="roundRect">
            <a:avLst/>
          </a:prstGeom>
          <a:solidFill>
            <a:srgbClr val="005073"/>
          </a:solidFill>
          <a:ln w="12700">
            <a:solidFill>
              <a:srgbClr val="005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SMTP</a:t>
            </a:r>
          </a:p>
          <a:p>
            <a:r>
              <a:t>Notifications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4114800"/>
            <a:ext cx="1371600" cy="457200"/>
          </a:xfrm>
          <a:prstGeom prst="roundRect">
            <a:avLst/>
          </a:prstGeom>
          <a:solidFill>
            <a:srgbClr val="005073"/>
          </a:solidFill>
          <a:ln w="12700">
            <a:solidFill>
              <a:srgbClr val="005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Dynamics 365</a:t>
            </a:r>
          </a:p>
          <a:p>
            <a:r>
              <a:t>(Optional)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37760" y="1920240"/>
            <a:ext cx="0" cy="548640"/>
          </a:xfrm>
          <a:prstGeom prst="line">
            <a:avLst/>
          </a:prstGeom>
          <a:ln w="381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937760" y="3108960"/>
            <a:ext cx="0" cy="365760"/>
          </a:xfrm>
          <a:prstGeom prst="line">
            <a:avLst/>
          </a:prstGeom>
          <a:ln w="381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920240" y="4114800"/>
            <a:ext cx="2194560" cy="365760"/>
          </a:xfrm>
          <a:prstGeom prst="line">
            <a:avLst/>
          </a:prstGeom>
          <a:ln w="381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926080" y="4800600"/>
            <a:ext cx="731520" cy="0"/>
          </a:xfrm>
          <a:prstGeom prst="line">
            <a:avLst/>
          </a:prstGeom>
          <a:ln w="38100">
            <a:solidFill>
              <a:srgbClr val="FFA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669280" y="4800600"/>
            <a:ext cx="731520" cy="0"/>
          </a:xfrm>
          <a:prstGeom prst="line">
            <a:avLst/>
          </a:prstGeom>
          <a:ln w="38100">
            <a:solidFill>
              <a:srgbClr val="FFA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937760" y="5120640"/>
            <a:ext cx="0" cy="365760"/>
          </a:xfrm>
          <a:prstGeom prst="line">
            <a:avLst/>
          </a:prstGeom>
          <a:ln w="381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601200" y="13716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Legend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1737360"/>
            <a:ext cx="137160" cy="137160"/>
          </a:xfrm>
          <a:prstGeom prst="rect">
            <a:avLst/>
          </a:prstGeom>
          <a:solidFill>
            <a:srgbClr val="FFA500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173736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AI Processing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0" y="1965960"/>
            <a:ext cx="137160" cy="137160"/>
          </a:xfrm>
          <a:prstGeom prst="rect">
            <a:avLst/>
          </a:prstGeom>
          <a:solidFill>
            <a:srgbClr val="4CAF50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196596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Storage Layer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2194560"/>
            <a:ext cx="137160" cy="137160"/>
          </a:xfrm>
          <a:prstGeom prst="rect">
            <a:avLst/>
          </a:prstGeom>
          <a:solidFill>
            <a:srgbClr val="F2F2F2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0" y="219456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User Interface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0" y="2423160"/>
            <a:ext cx="137160" cy="137160"/>
          </a:xfrm>
          <a:prstGeom prst="rect">
            <a:avLst/>
          </a:prstGeom>
          <a:solidFill>
            <a:srgbClr val="1BA0D7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0" y="242316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API Layer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